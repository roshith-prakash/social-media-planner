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58200" y="109728"/>
            <a:ext cx="3733495" cy="6748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89720" y="1051560"/>
            <a:ext cx="822960" cy="822960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1965960"/>
            <a:ext cx="566928" cy="566928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38360" y="3246120"/>
            <a:ext cx="1234440" cy="1234440"/>
          </a:xfrm>
          <a:prstGeom prst="ellipse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4709160"/>
            <a:ext cx="713232" cy="713232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15400" y="5074920"/>
            <a:ext cx="475488" cy="475488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84080" y="1645920"/>
            <a:ext cx="960120" cy="502920"/>
          </a:xfrm>
          <a:prstGeom prst="line">
            <a:avLst/>
          </a:prstGeom>
          <a:ln w="19050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378440" y="2560320"/>
            <a:ext cx="502920" cy="822960"/>
          </a:xfrm>
          <a:prstGeom prst="line">
            <a:avLst/>
          </a:prstGeom>
          <a:ln w="19050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69880" y="4389120"/>
            <a:ext cx="685800" cy="411480"/>
          </a:xfrm>
          <a:prstGeom prst="line">
            <a:avLst/>
          </a:prstGeom>
          <a:ln w="19050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144000" y="3977639"/>
            <a:ext cx="640080" cy="1188721"/>
          </a:xfrm>
          <a:prstGeom prst="line">
            <a:avLst/>
          </a:prstGeom>
          <a:ln w="19050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713232"/>
            <a:ext cx="6949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CLOUD COMPUTING PROJECT  |  MCA SEMESTER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463040"/>
            <a:ext cx="71323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4200" b="1" i="0">
                <a:solidFill>
                  <a:srgbClr val="12223A"/>
                </a:solidFill>
                <a:latin typeface="Aptos"/>
              </a:defRPr>
            </a:pPr>
            <a:r>
              <a:t>ReachAI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13432"/>
            <a:ext cx="7132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300" b="0" i="0">
                <a:solidFill>
                  <a:srgbClr val="5B697D"/>
                </a:solidFill>
                <a:latin typeface="Aptos"/>
              </a:defRPr>
            </a:pPr>
            <a:r>
              <a:t>Cloud-Enabled AI Social Media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36392"/>
            <a:ext cx="6812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0" i="0">
                <a:solidFill>
                  <a:srgbClr val="263242"/>
                </a:solidFill>
                <a:latin typeface="Aptos"/>
              </a:defRPr>
            </a:pPr>
            <a:r>
              <a:t>A cloud-native platform that streamlines video analysis, content planning, and social media publishing through managed cloud services and multimodal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434840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2E6FBD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718304"/>
            <a:ext cx="6766560" cy="10515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2223A"/>
                </a:solidFill>
                <a:latin typeface="Aptos"/>
              </a:defRPr>
            </a:pPr>
            <a:r>
              <a:t>A043  ·  Roshith Prakash</a:t>
            </a:r>
          </a:p>
          <a:p>
            <a:pPr>
              <a:spcAft>
                <a:spcPts val="400"/>
              </a:spcAft>
              <a:defRPr sz="1300">
                <a:solidFill>
                  <a:srgbClr val="12223A"/>
                </a:solidFill>
                <a:latin typeface="Aptos"/>
              </a:defRPr>
            </a:pPr>
            <a:r>
              <a:t>A037  ·  Pratham Parmar</a:t>
            </a:r>
          </a:p>
          <a:p>
            <a:pPr>
              <a:spcAft>
                <a:spcPts val="400"/>
              </a:spcAft>
              <a:defRPr sz="1300">
                <a:solidFill>
                  <a:srgbClr val="12223A"/>
                </a:solidFill>
                <a:latin typeface="Aptos"/>
              </a:defRPr>
            </a:pPr>
            <a:r>
              <a:t>A053  ·  Soumyadeep 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6236208"/>
            <a:ext cx="6858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2026–27  •  Cloud Computing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61996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CLOUD  •  AI  • 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Why ReachAI Needs the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rPr dirty="0"/>
              <a:t>Moving media-heavy and AI-intensive workflows beyond a constrained single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66360" cy="4206240"/>
          </a:xfrm>
          <a:prstGeom prst="roundRect">
            <a:avLst/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4206240"/>
          </a:xfrm>
          <a:prstGeom prst="rect">
            <a:avLst/>
          </a:prstGeom>
          <a:solidFill>
            <a:srgbClr val="B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8468" y="2436877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rPr dirty="0"/>
              <a:t>Traditional / Single-Server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191257"/>
            <a:ext cx="4846320" cy="358444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Large uploads consume application-server bandwidth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Local disk and memory become bottlenecks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AI workloads require costly compute capacity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Scaling and maintenance are handled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417320"/>
            <a:ext cx="5166360" cy="4206240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64008" cy="420624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9208" y="2438497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rPr dirty="0"/>
              <a:t>Cloud-Enabled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3162645"/>
            <a:ext cx="4846320" cy="358444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Upload media directly to managed cloud storage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Use on-demand AI services for video understanding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Persist application state in a managed database</a:t>
            </a:r>
          </a:p>
          <a:p>
            <a:pPr>
              <a:spcAft>
                <a:spcPts val="5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rPr dirty="0"/>
              <a:t>• Scale services independently as demand changes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3429000"/>
            <a:ext cx="484632" cy="0"/>
          </a:xfrm>
          <a:prstGeom prst="line">
            <a:avLst/>
          </a:prstGeom>
          <a:ln w="31750">
            <a:solidFill>
              <a:srgbClr val="22A4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5833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Design principle: keep the application server focused on orchestration—not bulk media transfer or model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Cloud Models &amp; 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ReachAI combines public-cloud services from multiple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303520" cy="1874519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53312"/>
            <a:ext cx="64008" cy="1874519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90472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Deployment Model: Multi-Cloud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83664"/>
            <a:ext cx="4983480" cy="125272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Uses specialized services across Google, MongoDB, Cloudinary, and Redis/Upstash</a:t>
            </a:r>
          </a:p>
          <a:p>
            <a:pPr>
              <a:spcAft>
                <a:spcPts val="5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Chooses services by capability rather than one provider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5303520" cy="1874519"/>
          </a:xfrm>
          <a:prstGeom prst="roundRect">
            <a:avLst/>
          </a:prstGeom>
          <a:solidFill>
            <a:srgbClr val="E5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53312"/>
            <a:ext cx="64008" cy="1874519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90472"/>
            <a:ext cx="4983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Cloud Design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83664"/>
            <a:ext cx="4983480" cy="125272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Reduces dependence on a single provider for every capability</a:t>
            </a:r>
          </a:p>
          <a:p>
            <a:pPr>
              <a:spcAft>
                <a:spcPts val="5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Adds integration, identity, networking, and cost-management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47872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SERVICE MODELS APPLIED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41648"/>
            <a:ext cx="2148840" cy="13533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178808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AIaaS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171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Gemini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64608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Multimodal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4041648"/>
            <a:ext cx="2148840" cy="13533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54096" y="4178808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Media PaaS / CDN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45171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Cloudinary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4864608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Upload, transform, deliver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48656" y="4041648"/>
            <a:ext cx="2148840" cy="13533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58384" y="4178808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DBaaS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45171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4864608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Managed NoSQL persistence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52944" y="4041648"/>
            <a:ext cx="2148840" cy="13533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4178808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IDaaS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45171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Firebase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4864608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Identity and sign-in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4041648"/>
            <a:ext cx="2148840" cy="13533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59" y="4178808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 i="0">
                <a:solidFill>
                  <a:srgbClr val="2E6FBD"/>
                </a:solidFill>
                <a:latin typeface="Aptos"/>
              </a:defRPr>
            </a:pPr>
            <a:r>
              <a:t>Cache-as-a-Service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45171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Redis / Upstash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4864608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Distributed rate-limit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Cloud Services Used in ReachAI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Each managed service handles a distinct responsibility in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417320"/>
            <a:ext cx="2057400" cy="43891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499616"/>
            <a:ext cx="1911095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417320"/>
            <a:ext cx="1874519" cy="43891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2344" y="1499616"/>
            <a:ext cx="172821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Model / 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712" y="1417320"/>
            <a:ext cx="3703320" cy="43891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1499616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Role in ReachAI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1417320"/>
            <a:ext cx="3310128" cy="43891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4" y="1499616"/>
            <a:ext cx="316382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Cloud Benefit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1856232"/>
            <a:ext cx="205740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1938528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Cloudinary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9192" y="1856232"/>
            <a:ext cx="1874519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52344" y="1938528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Media PaaS / CDN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3712" y="1856232"/>
            <a:ext cx="370332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1938528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Direct video upload, hosting,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2" y="1856232"/>
            <a:ext cx="3310128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Offloads media bandwidth and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2523744"/>
            <a:ext cx="2057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2606040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Google Gemini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9192" y="2523744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52344" y="2606040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AIaaS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2523744"/>
            <a:ext cx="37033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4" y="2606040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Video/transcript analysis and content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57032" y="252374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2606040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On-demand multimodal AI compute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3191256"/>
            <a:ext cx="205740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3273552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9192" y="3191256"/>
            <a:ext cx="1874519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52344" y="3273552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DBaaS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53712" y="3191256"/>
            <a:ext cx="370332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26864" y="3273552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Users, projects, schedules, post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57032" y="3191256"/>
            <a:ext cx="3310128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0184" y="3273552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Managed operations and replication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3858768"/>
            <a:ext cx="2057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4944" y="3941064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Firebase Authentication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9192" y="3858768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52344" y="3941064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IDaaS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3858768"/>
            <a:ext cx="37033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26864" y="3941064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Sign-in and identity tokens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2" y="3858768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4" y="3941064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Managed identity lifecycle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4526280"/>
            <a:ext cx="205740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" y="4608576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Redis Cloud / Upstash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9192" y="4526280"/>
            <a:ext cx="1874519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52344" y="4608576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Managed cache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53712" y="4526280"/>
            <a:ext cx="370332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6864" y="4608576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Distributed rate-limit state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57032" y="4526280"/>
            <a:ext cx="3310128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30184" y="4608576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Low-latency shared request tracking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" y="5193792"/>
            <a:ext cx="20574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4944" y="5276088"/>
            <a:ext cx="191109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Meta &amp; YouTube APIs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79192" y="5193792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52344" y="5276088"/>
            <a:ext cx="172821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External SaaS / APIs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53712" y="5193792"/>
            <a:ext cx="37033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26864" y="5276088"/>
            <a:ext cx="3557015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Publish content and retrieve platform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57032" y="5193792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0184" y="5276088"/>
            <a:ext cx="3163824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Connects ReachAI to social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High-Level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The backend coordinates requests while specialist cloud services handle media, data, AI, and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965960" cy="1325880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4008" cy="132588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011679"/>
            <a:ext cx="164591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04872"/>
            <a:ext cx="1645919" cy="7040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3242"/>
                </a:solidFill>
                <a:latin typeface="Aptos"/>
              </a:defRPr>
            </a:pPr>
            <a:r>
              <a:t>• Web UI</a:t>
            </a:r>
          </a:p>
          <a:p>
            <a:pPr>
              <a:spcAft>
                <a:spcPts val="500"/>
              </a:spcAft>
              <a:defRPr sz="1100">
                <a:solidFill>
                  <a:srgbClr val="263242"/>
                </a:solidFill>
                <a:latin typeface="Aptos"/>
              </a:defRPr>
            </a:pPr>
            <a:r>
              <a:t>• Firebase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74519"/>
            <a:ext cx="2331720" cy="1325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874519"/>
            <a:ext cx="64008" cy="132588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2011679"/>
            <a:ext cx="2011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Node.js /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404872"/>
            <a:ext cx="2011679" cy="7040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3242"/>
                </a:solidFill>
                <a:latin typeface="Aptos"/>
              </a:defRPr>
            </a:pPr>
            <a:r>
              <a:t>• API orchestration</a:t>
            </a:r>
          </a:p>
          <a:p>
            <a:pPr>
              <a:spcAft>
                <a:spcPts val="500"/>
              </a:spcAft>
              <a:defRPr sz="1100">
                <a:solidFill>
                  <a:srgbClr val="263242"/>
                </a:solidFill>
                <a:latin typeface="Aptos"/>
              </a:defRPr>
            </a:pPr>
            <a:r>
              <a:t>• Token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2523744"/>
            <a:ext cx="411480" cy="0"/>
          </a:xfrm>
          <a:prstGeom prst="line">
            <a:avLst/>
          </a:prstGeom>
          <a:ln w="25400">
            <a:solidFill>
              <a:srgbClr val="2E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89320" y="1234440"/>
            <a:ext cx="2468880" cy="1115568"/>
          </a:xfrm>
          <a:prstGeom prst="roundRect">
            <a:avLst/>
          </a:prstGeom>
          <a:solidFill>
            <a:srgbClr val="E5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234440"/>
            <a:ext cx="64008" cy="1115568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13716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Cloudinary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764792"/>
            <a:ext cx="2148840" cy="49377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Video storage + CDN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234440"/>
            <a:ext cx="2697480" cy="1115568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1234440"/>
            <a:ext cx="64008" cy="1115568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371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Gemini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764792"/>
            <a:ext cx="2377440" cy="49377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Multimodal AI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2743200"/>
            <a:ext cx="2468880" cy="11155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2743200"/>
            <a:ext cx="64008" cy="1115568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53912" y="288036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273552"/>
            <a:ext cx="2148840" cy="49377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Persistent application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2743200"/>
            <a:ext cx="2697480" cy="11155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23960" y="2743200"/>
            <a:ext cx="64008" cy="1115568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88552" y="288036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Redis / Upstash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3273552"/>
            <a:ext cx="2377440" cy="49377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Rate-limit state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 flipV="1">
            <a:off x="5349240" y="1563329"/>
            <a:ext cx="640080" cy="676951"/>
          </a:xfrm>
          <a:prstGeom prst="line">
            <a:avLst/>
          </a:prstGeom>
          <a:ln w="21590">
            <a:solidFill>
              <a:srgbClr val="22A4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>
          <a:xfrm flipV="1">
            <a:off x="5349240" y="2011679"/>
            <a:ext cx="3474720" cy="320041"/>
          </a:xfrm>
          <a:prstGeom prst="line">
            <a:avLst/>
          </a:prstGeom>
          <a:ln w="21590">
            <a:solidFill>
              <a:srgbClr val="2E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>
            <a:off x="5321808" y="2932470"/>
            <a:ext cx="699516" cy="670266"/>
          </a:xfrm>
          <a:prstGeom prst="line">
            <a:avLst/>
          </a:prstGeom>
          <a:ln w="21590">
            <a:solidFill>
              <a:srgbClr val="2E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</p:cNvCxnSpPr>
          <p:nvPr/>
        </p:nvCxnSpPr>
        <p:spPr>
          <a:xfrm>
            <a:off x="5349240" y="2788920"/>
            <a:ext cx="3474720" cy="160757"/>
          </a:xfrm>
          <a:prstGeom prst="line">
            <a:avLst/>
          </a:prstGeom>
          <a:ln w="21590">
            <a:solidFill>
              <a:srgbClr val="22A4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971800" y="4315968"/>
            <a:ext cx="2331720" cy="1078992"/>
          </a:xfrm>
          <a:prstGeom prst="roundRect">
            <a:avLst/>
          </a:prstGeom>
          <a:solidFill>
            <a:srgbClr val="E5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71800" y="4315968"/>
            <a:ext cx="64008" cy="1078992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36392" y="4453128"/>
            <a:ext cx="2011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Background 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6392" y="4846320"/>
            <a:ext cx="2011679" cy="4571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Scheduled dispatch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4315968"/>
            <a:ext cx="24688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89320" y="4315968"/>
            <a:ext cx="64008" cy="1078992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3912" y="445312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Meta Graph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4846320"/>
            <a:ext cx="2148840" cy="4571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Instagram publishing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4315968"/>
            <a:ext cx="26974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823960" y="4315968"/>
            <a:ext cx="64008" cy="1078992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88552" y="4453128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YouTube Data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8552" y="4846320"/>
            <a:ext cx="2377440" cy="4571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63242"/>
                </a:solidFill>
                <a:latin typeface="Aptos"/>
              </a:defRPr>
            </a:pPr>
            <a:r>
              <a:t>• Video publishing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60520" y="3273552"/>
            <a:ext cx="0" cy="969264"/>
          </a:xfrm>
          <a:prstGeom prst="line">
            <a:avLst/>
          </a:prstGeom>
          <a:ln w="21590">
            <a:solidFill>
              <a:srgbClr val="22A4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49240" y="4846320"/>
            <a:ext cx="566928" cy="0"/>
          </a:xfrm>
          <a:prstGeom prst="line">
            <a:avLst/>
          </a:prstGeom>
          <a:ln w="21590">
            <a:solidFill>
              <a:srgbClr val="2E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</p:cNvCxnSpPr>
          <p:nvPr/>
        </p:nvCxnSpPr>
        <p:spPr>
          <a:xfrm>
            <a:off x="5349240" y="5250818"/>
            <a:ext cx="3401568" cy="0"/>
          </a:xfrm>
          <a:prstGeom prst="line">
            <a:avLst/>
          </a:prstGeom>
          <a:ln w="21590">
            <a:solidFill>
              <a:srgbClr val="2E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5833872"/>
            <a:ext cx="10972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1">
                <a:solidFill>
                  <a:srgbClr val="5B697D"/>
                </a:solidFill>
                <a:latin typeface="Aptos"/>
              </a:defRPr>
            </a:pPr>
            <a:r>
              <a:t>SSE returns live task progress to the client. Media upload can bypass the backend through a secure Cloudinary upload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End-to-End Cloud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From authenticated upload to AI-generated content and scheduled publishing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536192"/>
            <a:ext cx="566928" cy="566928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82495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49047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Authenticate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810512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Firebase Auth issues an identity token; backend verifies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353312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536192"/>
            <a:ext cx="566928" cy="566928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82495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49047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Upload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810512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Browser uploads video directly to Cloudinary using a secure upload configuration.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62072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59" y="3044952"/>
            <a:ext cx="566928" cy="566928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191256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299923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Save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319272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MongoDB Atlas stores the media URL, creator, project details, and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2862072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20" y="3044952"/>
            <a:ext cx="566928" cy="566928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191256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99923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Analyze with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319272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Backend sends the supported video reference/context to Gemini for analysis and content generation.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70831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2959" y="4553712"/>
            <a:ext cx="566928" cy="566928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700016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50799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Stream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828031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Server-Sent Events (SSE) sends task progress and completion events to the client.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4370831"/>
            <a:ext cx="5285232" cy="12435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46520" y="4553712"/>
            <a:ext cx="566928" cy="566928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700016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507992"/>
            <a:ext cx="4160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Publish 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4828031"/>
            <a:ext cx="4160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A background worker reads due schedules and calls the YouTube or Instagram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Why Cloud? Key Architectural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Managed services shift operational work away from the application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30368" cy="16276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1709928"/>
            <a:ext cx="457200" cy="457200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1682496"/>
            <a:ext cx="4069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Compute &amp; bandwidth offloading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03120"/>
            <a:ext cx="4069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 i="0">
                <a:solidFill>
                  <a:srgbClr val="263242"/>
                </a:solidFill>
                <a:latin typeface="Aptos"/>
              </a:defRPr>
            </a:pPr>
            <a:r>
              <a:t>Cloudinary handles video storage and delivery; AI processing is delegated to a managed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81328"/>
            <a:ext cx="5230368" cy="16276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55664" y="1709928"/>
            <a:ext cx="457200" cy="457200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6" y="1682496"/>
            <a:ext cx="4069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Independent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2103120"/>
            <a:ext cx="4069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 i="0">
                <a:solidFill>
                  <a:srgbClr val="263242"/>
                </a:solidFill>
                <a:latin typeface="Aptos"/>
              </a:defRPr>
            </a:pPr>
            <a:r>
              <a:t>The API, media delivery, database, and AI workloads can scale on their own service tiers.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47288"/>
            <a:ext cx="5230368" cy="16276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" y="3675887"/>
            <a:ext cx="457200" cy="457200"/>
          </a:xfrm>
          <a:prstGeom prst="ellipse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81328" y="3648456"/>
            <a:ext cx="4069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Availability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069080"/>
            <a:ext cx="4069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 i="0">
                <a:solidFill>
                  <a:srgbClr val="263242"/>
                </a:solidFill>
                <a:latin typeface="Aptos"/>
              </a:defRPr>
            </a:pPr>
            <a:r>
              <a:t>Managed databases can provide replica sets, backups, and failover when configured and supported by the selected tier.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447288"/>
            <a:ext cx="5230368" cy="16276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55664" y="3675887"/>
            <a:ext cx="457200" cy="457200"/>
          </a:xfrm>
          <a:prstGeom prst="ellipse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6" y="3648456"/>
            <a:ext cx="4069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Cost flexibility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4069080"/>
            <a:ext cx="4069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 i="0">
                <a:solidFill>
                  <a:srgbClr val="263242"/>
                </a:solidFill>
                <a:latin typeface="Aptos"/>
              </a:defRPr>
            </a:pPr>
            <a:r>
              <a:t>Usage-based services reduce the need to buy and maintain dedicated hardware, but usage must be monitored.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Cloud Security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Protect identity, social credentials, cloud APIs, and user-owned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64008" cy="123444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72184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Identity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Verify Firebase ID tokens on protected backend routes. Enforce user-level ownership checks for projects and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353312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353312"/>
            <a:ext cx="64008" cy="123444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72184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Credential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810512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Encrypt social OAuth tokens at rest and restrict access to the encryption key and database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34640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834640"/>
            <a:ext cx="64008" cy="123444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953512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Abuse and quota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91840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Use shared Redis-backed rate limiting to control request bursts and protect expensive AI/API quotas.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834640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6" y="2834640"/>
            <a:ext cx="64008" cy="123444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2953512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Secure media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91840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Use constrained upload presets or signed upload parameters; validate file type, size, ownership, and returned asset metadata.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15968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315968"/>
            <a:ext cx="64008" cy="123444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443484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Data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773168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Keep secrets out of source control, apply least-privilege access, and define retention/deletion rules for media and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4315968"/>
            <a:ext cx="5230368" cy="1234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54496" y="4315968"/>
            <a:ext cx="64008" cy="123444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7376" y="443484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Operational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773168"/>
            <a:ext cx="48006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Log security-relevant events without logging access tokens, refresh tokens, or other secrets.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Cloud Integration &amp; Functional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Report observable test outcomes—not assumed performance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2377440" cy="4572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1389888"/>
            <a:ext cx="6766560" cy="4572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481328"/>
            <a:ext cx="6583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Verification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02368" y="1389888"/>
            <a:ext cx="1828800" cy="4572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93808" y="1481328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847088"/>
            <a:ext cx="237744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1956816"/>
            <a:ext cx="21945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12223A"/>
                </a:solidFill>
                <a:latin typeface="Aptos"/>
              </a:defRPr>
            </a:pPr>
            <a:r>
              <a:t>Cloudinary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808" y="1847088"/>
            <a:ext cx="676656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7248" y="1956816"/>
            <a:ext cx="65836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Direct upload succeeds; asset is returned; CDN URL plays the video.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8" y="1847088"/>
            <a:ext cx="182880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1956816"/>
            <a:ext cx="1645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rPr lang="en-US" dirty="0"/>
              <a:t>Success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58368" y="2569464"/>
            <a:ext cx="237744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21945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12223A"/>
                </a:solidFill>
                <a:latin typeface="Aptos"/>
              </a:defRPr>
            </a:pPr>
            <a:r>
              <a:t>Gemini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2569464"/>
            <a:ext cx="676656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27248" y="2679192"/>
            <a:ext cx="65836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A valid video input produces the expected structured analysis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2368" y="2569464"/>
            <a:ext cx="18288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3808" y="2679192"/>
            <a:ext cx="1645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rPr lang="en-US" dirty="0"/>
              <a:t>Success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237744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401568"/>
            <a:ext cx="21945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12223A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35808" y="3291840"/>
            <a:ext cx="676656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27248" y="3401568"/>
            <a:ext cx="65836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Create/read/update/delete operations and scheduled-post state transitions work.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2368" y="3291840"/>
            <a:ext cx="182880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93808" y="3401568"/>
            <a:ext cx="1645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rPr lang="en-US" dirty="0"/>
              <a:t>Success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658368" y="4014216"/>
            <a:ext cx="237744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123944"/>
            <a:ext cx="21945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12223A"/>
                </a:solidFill>
                <a:latin typeface="Aptos"/>
              </a:defRPr>
            </a:pPr>
            <a:r>
              <a:t>Redis rate limiting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5808" y="4014216"/>
            <a:ext cx="676656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27248" y="4123944"/>
            <a:ext cx="65836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Requests over the configured threshold are throttled as expected.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02368" y="4014216"/>
            <a:ext cx="18288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93808" y="4123944"/>
            <a:ext cx="1645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rPr lang="en-US" dirty="0" err="1"/>
              <a:t>Sucess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658368" y="4736592"/>
            <a:ext cx="237744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4846320"/>
            <a:ext cx="21945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12223A"/>
                </a:solidFill>
                <a:latin typeface="Aptos"/>
              </a:defRPr>
            </a:pPr>
            <a:r>
              <a:t>Social API publishing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35808" y="4736592"/>
            <a:ext cx="676656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27248" y="4846320"/>
            <a:ext cx="65836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t>OAuth flow completes and publishing requests return the expected platform response.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02368" y="4736592"/>
            <a:ext cx="1828800" cy="722376"/>
          </a:xfrm>
          <a:prstGeom prst="rect">
            <a:avLst/>
          </a:prstGeom>
          <a:solidFill>
            <a:srgbClr val="F1F5F9"/>
          </a:solidFill>
          <a:ln w="1270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93808" y="4846320"/>
            <a:ext cx="1645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 i="0">
                <a:solidFill>
                  <a:srgbClr val="263242"/>
                </a:solidFill>
                <a:latin typeface="Aptos"/>
              </a:defRPr>
            </a:pPr>
            <a:r>
              <a:rPr lang="en-US" dirty="0" err="1"/>
              <a:t>Sucess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Individual Member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Responsibilities across architecture, security, AI, media, and publishing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52044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3520440" cy="109728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1089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A043  |  Roshith Prakash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43200"/>
            <a:ext cx="3108960" cy="22402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Cloud system architecture and multi-cloud orchestration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Gemini AI integration and SSE progress streaming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Express.js API design and MongoDB Atlas schema modeling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52044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520440" cy="109728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7" y="1993392"/>
            <a:ext cx="31089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A037  |  Pratham Parmar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743200"/>
            <a:ext cx="3108960" cy="22402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Cloud security design and OAuth token protection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Redis-backed distributed rate limiting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Firebase Authentication and request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45920"/>
            <a:ext cx="352044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2752" y="1645920"/>
            <a:ext cx="3520440" cy="109728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993392"/>
            <a:ext cx="31089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A053  |  Soumyadeep 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3108960" cy="22402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Frontend integration for direct Cloudinary uploads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Background scheduling and concurrency management</a:t>
            </a:r>
          </a:p>
          <a:p>
            <a:pPr>
              <a:spcAft>
                <a:spcPts val="13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YouTube Data API and Meta Graph API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2223A"/>
                </a:solidFill>
                <a:latin typeface="Aptos"/>
              </a:defRPr>
            </a:pPr>
            <a:r>
              <a:t>Conclusion &amp; Future Cloud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5B697D"/>
                </a:solidFill>
                <a:latin typeface="Aptos"/>
              </a:defRPr>
            </a:pPr>
            <a:r>
              <a:t>ReachAI demonstrates how managed cloud services can support an AI-assisted publishing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5B69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411480" cy="2286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30368" cy="3200400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64008" cy="3200400"/>
          </a:xfrm>
          <a:prstGeom prst="rect">
            <a:avLst/>
          </a:prstGeom>
          <a:solidFill>
            <a:srgbClr val="2E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54480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What ReachAI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4910328" cy="2578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Managed media hosting and CDN delivery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On-demand multimodal AI integration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Persistent cloud data and distributed request controls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External social publishing through platform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230368" cy="3200400"/>
          </a:xfrm>
          <a:prstGeom prst="roundRect">
            <a:avLst/>
          </a:prstGeom>
          <a:solidFill>
            <a:srgbClr val="E5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64008" cy="3200400"/>
          </a:xfrm>
          <a:prstGeom prst="rect">
            <a:avLst/>
          </a:prstGeom>
          <a:solidFill>
            <a:srgbClr val="22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54480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47672"/>
            <a:ext cx="4910328" cy="2578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Containerize backend and workers with Docker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Deploy on Cloud Run or AWS ECS with autoscaling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Add object storage for archival and lifecycle policies</a:t>
            </a:r>
          </a:p>
          <a:p>
            <a:pPr>
              <a:spcAft>
                <a:spcPts val="5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Add queue-based workers, retries, and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74920"/>
            <a:ext cx="10771632" cy="8412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276088"/>
            <a:ext cx="10287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Thank you  |  We will now proceed to the live application demonstration.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 i="0">
                <a:solidFill>
                  <a:srgbClr val="5B697D"/>
                </a:solidFill>
                <a:latin typeface="Aptos"/>
              </a:defRPr>
            </a:pPr>
            <a:r>
              <a:t>ReachAI  •  Cloud Computing Evaluation  •  MCA Semester 3  • 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1139</Words>
  <Application>Microsoft Office PowerPoint</Application>
  <PresentationFormat>Widescreen</PresentationFormat>
  <Paragraphs>202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ROSHITH - 70612500059</cp:lastModifiedBy>
  <cp:revision>2</cp:revision>
  <dcterms:created xsi:type="dcterms:W3CDTF">2013-01-27T09:14:16Z</dcterms:created>
  <dcterms:modified xsi:type="dcterms:W3CDTF">2026-10-20T10:30:14Z</dcterms:modified>
  <cp:category/>
</cp:coreProperties>
</file>